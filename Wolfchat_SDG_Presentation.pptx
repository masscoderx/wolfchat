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280160" cy="100584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822960"/>
            <a:ext cx="1371600" cy="91440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24160" y="5303520"/>
            <a:ext cx="1005840" cy="82296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1828800" cy="502920"/>
          </a:xfrm>
          <a:prstGeom prst="roundRect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WOLFCHAT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30"/>
                </a:solidFill>
              </a:defRPr>
            </a:pPr>
            <a:r>
              <a:t>Wolfchat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596660"/>
                </a:solidFill>
              </a:defRPr>
            </a:pPr>
            <a:r>
              <a:t>Private local AI for research, evidence-based decisions, and SDG-aligned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2103120" cy="914400"/>
          </a:xfrm>
          <a:prstGeom prst="roundRect">
            <a:avLst/>
          </a:prstGeom>
          <a:solidFill>
            <a:srgbClr val="388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Goals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926080"/>
            <a:ext cx="2103120" cy="914400"/>
          </a:xfrm>
          <a:prstGeom prst="roundRect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SDGs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2103120" cy="914400"/>
          </a:xfrm>
          <a:prstGeom prst="round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Privacy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Teams collect information in scattered files, PDFs, notes, and spreadsheets.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Current AI helpers are often generic, disconnected from source material, or not private.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Decision-makers need fast answers, grounded evidence, and clear action paths.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Without this, research becomes slow, inconsistent, and riskier than it should 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Why Wolfchat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663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09728"/>
          <a:lstStyle/>
          <a:p>
            <a:pPr algn="ctr">
              <a:defRPr sz="1700" b="1">
                <a:solidFill>
                  <a:srgbClr val="123530"/>
                </a:solidFill>
              </a:defRPr>
            </a:pPr>
            <a:r>
              <a:t>Private by design</a:t>
            </a:r>
          </a:p>
          <a:p>
            <a:pPr>
              <a:defRPr sz="1200">
                <a:solidFill>
                  <a:srgbClr val="596660"/>
                </a:solidFill>
              </a:defRPr>
            </a:pPr>
            <a:r>
              <a:t>Files stay local in the browser; nothing is sent to a hosted API by default.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09728"/>
          <a:lstStyle/>
          <a:p>
            <a:pPr algn="ctr">
              <a:defRPr sz="1700" b="1">
                <a:solidFill>
                  <a:srgbClr val="123530"/>
                </a:solidFill>
              </a:defRPr>
            </a:pPr>
            <a:r>
              <a:t>Evidence-backed answers</a:t>
            </a:r>
          </a:p>
          <a:p>
            <a:pPr>
              <a:defRPr sz="1200">
                <a:solidFill>
                  <a:srgbClr val="596660"/>
                </a:solidFill>
              </a:defRPr>
            </a:pPr>
            <a:r>
              <a:t>The app matches questions to source passages and shows supporting excerpts.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4663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09728"/>
          <a:lstStyle/>
          <a:p>
            <a:pPr algn="ctr">
              <a:defRPr sz="1700" b="1">
                <a:solidFill>
                  <a:srgbClr val="123530"/>
                </a:solidFill>
              </a:defRPr>
            </a:pPr>
            <a:r>
              <a:t>Smart data views</a:t>
            </a:r>
          </a:p>
          <a:p>
            <a:pPr>
              <a:defRPr sz="1200">
                <a:solidFill>
                  <a:srgbClr val="596660"/>
                </a:solidFill>
              </a:defRPr>
            </a:pPr>
            <a:r>
              <a:t>CSV files can be analyzed and visualized as bar or line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3840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09728"/>
          <a:lstStyle/>
          <a:p>
            <a:pPr algn="ctr">
              <a:defRPr sz="1700" b="1">
                <a:solidFill>
                  <a:srgbClr val="123530"/>
                </a:solidFill>
              </a:defRPr>
            </a:pPr>
            <a:r>
              <a:t>SDG dashboard</a:t>
            </a:r>
          </a:p>
          <a:p>
            <a:pPr>
              <a:defRPr sz="1200">
                <a:solidFill>
                  <a:srgbClr val="596660"/>
                </a:solidFill>
              </a:defRPr>
            </a:pPr>
            <a:r>
              <a:t>Goal tracking and sustainability-focused insight help connect action to global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Core Product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General chat mode for everyday explanations, planning, and writing support.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File-aware mode that answers using uploaded evidence and matched passages.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Knowledge map for topic understanding, contradiction checks, and evidence status.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Citations and direct source receipts to build trust and reduce hallucination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388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Upload files</a:t>
            </a:r>
          </a:p>
        </p:txBody>
      </p:sp>
      <p:sp>
        <p:nvSpPr>
          <p:cNvPr id="6" name="Oval 5"/>
          <p:cNvSpPr/>
          <p:nvPr/>
        </p:nvSpPr>
        <p:spPr>
          <a:xfrm>
            <a:off x="3063239" y="1920240"/>
            <a:ext cx="1005840" cy="1005840"/>
          </a:xfrm>
          <a:prstGeom prst="ellipse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799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Index content</a:t>
            </a:r>
          </a:p>
        </p:txBody>
      </p:sp>
      <p:sp>
        <p:nvSpPr>
          <p:cNvPr id="8" name="Oval 7"/>
          <p:cNvSpPr/>
          <p:nvPr/>
        </p:nvSpPr>
        <p:spPr>
          <a:xfrm>
            <a:off x="5394959" y="1920240"/>
            <a:ext cx="1005840" cy="1005840"/>
          </a:xfrm>
          <a:prstGeom prst="ellipse">
            <a:avLst/>
          </a:prstGeom>
          <a:solidFill>
            <a:srgbClr val="388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Match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7726679" y="1920240"/>
            <a:ext cx="1005840" cy="1005840"/>
          </a:xfrm>
          <a:prstGeom prst="ellipse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Answer with citations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1920240"/>
            <a:ext cx="1005840" cy="1005840"/>
          </a:xfrm>
          <a:prstGeom prst="ellipse">
            <a:avLst/>
          </a:prstGeom>
          <a:solidFill>
            <a:srgbClr val="388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Visualize trends</a:t>
            </a:r>
          </a:p>
        </p:txBody>
      </p:sp>
      <p:sp>
        <p:nvSpPr>
          <p:cNvPr id="14" name="Oval 13"/>
          <p:cNvSpPr/>
          <p:nvPr/>
        </p:nvSpPr>
        <p:spPr>
          <a:xfrm>
            <a:off x="12390120" y="1920240"/>
            <a:ext cx="1005840" cy="1005840"/>
          </a:xfrm>
          <a:prstGeom prst="ellipse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98680" y="320040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723"/>
                </a:solidFill>
              </a:defRPr>
            </a:pPr>
            <a:r>
              <a:t>Track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How Wolfchat Supports the SDGs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1188720"/>
          </a:xfrm>
          <a:prstGeom prst="roundRect">
            <a:avLst/>
          </a:prstGeom>
          <a:solidFill>
            <a:srgbClr val="2E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4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Quality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737360"/>
            <a:ext cx="2011680" cy="1188720"/>
          </a:xfrm>
          <a:prstGeom prst="roundRect">
            <a:avLst/>
          </a:prstGeom>
          <a:solidFill>
            <a:srgbClr val="E2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8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Decent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737360"/>
            <a:ext cx="2011680" cy="1188720"/>
          </a:xfrm>
          <a:prstGeom prst="roundRect">
            <a:avLst/>
          </a:prstGeom>
          <a:solidFill>
            <a:srgbClr val="4D6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9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2011680" cy="1188720"/>
          </a:xfrm>
          <a:prstGeom prst="roundRect">
            <a:avLst/>
          </a:prstGeom>
          <a:solidFill>
            <a:srgbClr val="5FA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12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Responsible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737360"/>
            <a:ext cx="2011680" cy="1188720"/>
          </a:xfrm>
          <a:prstGeom prst="roundRect">
            <a:avLst/>
          </a:prstGeom>
          <a:solidFill>
            <a:srgbClr val="2F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13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Climate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2011680" cy="1188720"/>
          </a:xfrm>
          <a:prstGeom prst="roundRect">
            <a:avLst/>
          </a:prstGeom>
          <a:solidFill>
            <a:srgbClr val="7E9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SDG 17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Partnerships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6660"/>
                </a:solidFill>
              </a:defRPr>
            </a:pPr>
            <a:r>
              <a:t>Wolfchat helps teams turn data and documents into actionable progress monitoring for a more sustainable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Real-World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Researchers and students can summarize documents, ask questions, and verify references quickly.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NGOs and public institutions can track SDG-related priorities and action plans from local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Teams can analyze CSV datasets, discover trends, and compare claims using visual insights.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Decision-makers can improve clarity, reduce uncertainty, and move from information overload to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011680" cy="73152"/>
          </a:xfrm>
          <a:prstGeom prst="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530"/>
                </a:solidFill>
              </a:defRPr>
            </a:pPr>
            <a:r>
              <a:t>Future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Add stronger multi-document summarization and cross-file comparison.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Introduce more advanced SDG scoring, recommendation engines, and reporting templates.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Expand data forecasting, trend analysis, and personalized dashboards.</a:t>
            </a:r>
          </a:p>
          <a:p>
            <a:pPr>
              <a:spcAft>
                <a:spcPts val="800"/>
              </a:spcAft>
              <a:defRPr sz="1800">
                <a:solidFill>
                  <a:srgbClr val="222723"/>
                </a:solidFill>
              </a:defRPr>
            </a:pPr>
            <a:r>
              <a:t>Scale for schools, NGOs, startups, and public sector institutions with privacy-first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280160" cy="100584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822960"/>
            <a:ext cx="1371600" cy="91440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24160" y="5303520"/>
            <a:ext cx="1005840" cy="822960"/>
          </a:xfrm>
          <a:prstGeom prst="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1828800" cy="502920"/>
          </a:xfrm>
          <a:prstGeom prst="roundRect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300">
                <a:solidFill>
                  <a:srgbClr val="FFFFFF"/>
                </a:solidFill>
              </a:defRPr>
            </a:pPr>
            <a:r>
              <a:t>WOLFCHAT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30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596660"/>
                </a:solidFill>
              </a:defRPr>
            </a:pPr>
            <a:r>
              <a:t>Wolfchat combines AI, local privacy, evidence-based research, and SDG-focused decision support in one powerful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2103120" cy="914400"/>
          </a:xfrm>
          <a:prstGeom prst="roundRect">
            <a:avLst/>
          </a:prstGeom>
          <a:solidFill>
            <a:srgbClr val="388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Goals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926080"/>
            <a:ext cx="2103120" cy="914400"/>
          </a:xfrm>
          <a:prstGeom prst="roundRect">
            <a:avLst/>
          </a:prstGeom>
          <a:solidFill>
            <a:srgbClr val="12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SDGs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2103120" cy="914400"/>
          </a:xfrm>
          <a:prstGeom prst="roundRect">
            <a:avLst/>
          </a:prstGeom>
          <a:solidFill>
            <a:srgbClr val="E67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Privacy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